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964d9515914748" /><Relationship Type="http://schemas.openxmlformats.org/officeDocument/2006/relationships/extended-properties" Target="/docProps/app.xml" Id="R763dd7705f26496b" /><Relationship Type="http://schemas.openxmlformats.org/officeDocument/2006/relationships/officeDocument" Target="/ppt/presentation.xml" Id="Rfb73d3029e8c4d84" /></Relationships>
</file>

<file path=ppt/presentation.xml><?xml version="1.0" encoding="utf-8"?>
<p:presentation xmlns:p="http://schemas.openxmlformats.org/presentationml/2006/main">
  <p:sldMasterIdLst>
    <p:sldMasterId xmlns:r="http://schemas.openxmlformats.org/officeDocument/2006/relationships" id="2147483648" r:id="Rb4f7bdaf67ab459b"/>
  </p:sldMasterIdLst>
  <p:notesMasterIdLst>
    <p:notesMasterId xmlns:r="http://schemas.openxmlformats.org/officeDocument/2006/relationships" r:id="R70bc35d97c9e4eab"/>
  </p:notesMasterIdLst>
  <p:sldIdLst>
    <p:sldId xmlns:r="http://schemas.openxmlformats.org/officeDocument/2006/relationships" id="256" r:id="Rf6ecf86272bf41db"/>
    <p:sldId xmlns:r="http://schemas.openxmlformats.org/officeDocument/2006/relationships" id="257" r:id="R0fef493b3b2145f3"/>
    <p:sldId xmlns:r="http://schemas.openxmlformats.org/officeDocument/2006/relationships" id="258" r:id="Rc3fe5f9aa47b4c83"/>
    <p:sldId xmlns:r="http://schemas.openxmlformats.org/officeDocument/2006/relationships" id="259" r:id="R45a7f52103de48e8"/>
    <p:sldId xmlns:r="http://schemas.openxmlformats.org/officeDocument/2006/relationships" id="260" r:id="R2eb3368ab27c4a9f"/>
    <p:sldId xmlns:r="http://schemas.openxmlformats.org/officeDocument/2006/relationships" id="261" r:id="R246398190f714c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6c9c8b5b6a411d" /><Relationship Type="http://schemas.openxmlformats.org/officeDocument/2006/relationships/slideMaster" Target="/ppt/slideMasters/slideMaster1.xml" Id="Rb4f7bdaf67ab459b" /><Relationship Type="http://schemas.openxmlformats.org/officeDocument/2006/relationships/notesMaster" Target="/ppt/notesMasters/notesMaster1.xml" Id="R70bc35d97c9e4eab" /><Relationship Type="http://schemas.openxmlformats.org/officeDocument/2006/relationships/presProps" Target="/ppt/presProps.xml" Id="Rfa937e90712444eb" /><Relationship Type="http://schemas.openxmlformats.org/officeDocument/2006/relationships/tableStyles" Target="/ppt/tableStyles.xml" Id="R0a97f3a301794c67" /><Relationship Type="http://schemas.openxmlformats.org/officeDocument/2006/relationships/slide" Target="/ppt/slides/slide1.xml" Id="Rf6ecf86272bf41db" /><Relationship Type="http://schemas.openxmlformats.org/officeDocument/2006/relationships/slide" Target="/ppt/slides/slide2.xml" Id="R0fef493b3b2145f3" /><Relationship Type="http://schemas.openxmlformats.org/officeDocument/2006/relationships/slide" Target="/ppt/slides/slide3.xml" Id="Rc3fe5f9aa47b4c83" /><Relationship Type="http://schemas.openxmlformats.org/officeDocument/2006/relationships/slide" Target="/ppt/slides/slide4.xml" Id="R45a7f52103de48e8" /><Relationship Type="http://schemas.openxmlformats.org/officeDocument/2006/relationships/slide" Target="/ppt/slides/slide5.xml" Id="R2eb3368ab27c4a9f" /><Relationship Type="http://schemas.openxmlformats.org/officeDocument/2006/relationships/slide" Target="/ppt/slides/slide6.xml" Id="R246398190f714c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d0f08164a144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0256ce1e2f4e63" /><Relationship Type="http://schemas.openxmlformats.org/officeDocument/2006/relationships/notesMaster" Target="/ppt/notesMasters/notesMaster1.xml" Id="R677f0da45d574a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e349a5256e4b6f" /><Relationship Type="http://schemas.openxmlformats.org/officeDocument/2006/relationships/notesMaster" Target="/ppt/notesMasters/notesMaster1.xml" Id="Ree52138c829442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caa92b17a541b9" /><Relationship Type="http://schemas.openxmlformats.org/officeDocument/2006/relationships/notesMaster" Target="/ppt/notesMasters/notesMaster1.xml" Id="R5b11e3e7058e43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7f7f61f5a54b2b" /><Relationship Type="http://schemas.openxmlformats.org/officeDocument/2006/relationships/notesMaster" Target="/ppt/notesMasters/notesMaster1.xml" Id="R489459a027df43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b07853d6504934" /><Relationship Type="http://schemas.openxmlformats.org/officeDocument/2006/relationships/notesMaster" Target="/ppt/notesMasters/notesMaster1.xml" Id="Rf80cd3dcabd041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77aacd1411467e" /><Relationship Type="http://schemas.openxmlformats.org/officeDocument/2006/relationships/notesMaster" Target="/ppt/notesMasters/notesMaster1.xml" Id="Rf616d600f9b24a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 (25 seconds)</a:t>
            </a:r>
          </a:p>
          <a:p xmlns:a="http://schemas.openxmlformats.org/drawingml/2006/main">
            <a:r>
              <a:t/>
            </a:r>
          </a:p>
          <a:p xmlns:a="http://schemas.openxmlformats.org/drawingml/2006/main">
            <a:r>
              <a:t>Your coding agent solves a hard bug. Tomorrow, another agent on your team hits the same problem and starts from scratch. The fix is in the code, but the lesson is buried in a conversation. We built Xchange: shared memory for coding agents, so what one agent learns can become context for the next.</a:t>
            </a:r>
          </a:p>
          <a:p xmlns:a="http://schemas.openxmlformats.org/drawingml/2006/main">
            <a:r>
              <a:t/>
            </a:r>
          </a:p>
          <a:p xmlns:a="http://schemas.openxmlformats.org/drawingml/2006/main">
            <a:r>
              <a:t>Delivery cue: Pause after “buried in a conversation.” Look up before introducing Xchange.</a:t>
            </a:r>
          </a:p>
          <a:p xmlns:a="http://schemas.openxmlformats.org/drawingml/2006/main">
            <a:r>
              <a:t/>
            </a:r>
          </a:p>
          <a:p xmlns:a="http://schemas.openxmlformats.org/drawingml/2006/main">
            <a:r>
              <a:t>Sources and factual context:</a:t>
            </a:r>
          </a:p>
          <a:p xmlns:a="http://schemas.openxmlformats.org/drawingml/2006/main">
            <a:r>
              <a:t>Product purpose: README.md. Shipped scope: https://mongo-db-hackathon-xchange.vercel.app/?item=observation%3A7c1e9a52-3b4d-4f6e-8a1b-2c3d4e5f6c01. The opening is a hypothetical problem scenario, not a measured time-saving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0:25–0:55 (30 seconds)</a:t>
            </a:r>
          </a:p>
          <a:p xmlns:a="http://schemas.openxmlformats.org/drawingml/2006/main">
            <a:r>
              <a:t/>
            </a:r>
          </a:p>
          <a:p xmlns:a="http://schemas.openxmlformats.org/drawingml/2006/main">
            <a:r>
              <a:t>We used Xchange while building Xchange. Here’s an actual lesson we captured: our publication workflow needs a MongoDB replica set because it uses transactions. The record keeps the explanation, scope, commit and test together. It’s still a candidate, and the interface says so. The team can inspect what was learned and the evidence behind it before treating it as trusted guidance.</a:t>
            </a:r>
          </a:p>
          <a:p xmlns:a="http://schemas.openxmlformats.org/drawingml/2006/main">
            <a:r>
              <a:t/>
            </a:r>
          </a:p>
          <a:p xmlns:a="http://schemas.openxmlformats.org/drawingml/2006/main">
            <a:r>
              <a:t>Delivery cue: Point once to the candidate status in the screenshot, then return to the audience.</a:t>
            </a:r>
          </a:p>
          <a:p xmlns:a="http://schemas.openxmlformats.org/drawingml/2006/main">
            <a:r>
              <a:t/>
            </a:r>
          </a:p>
          <a:p xmlns:a="http://schemas.openxmlformats.org/drawingml/2006/main">
            <a:r>
              <a:t>Sources and factual context:</a:t>
            </a:r>
          </a:p>
          <a:p xmlns:a="http://schemas.openxmlformats.org/drawingml/2006/main">
            <a:r>
              <a:t>Live candidate and original screenshot, read 26 September 2026: https://mongo-db-hackathon-xchange.vercel.app/?item=lesson%3A6a9be369-ee3a-52dc-af40-f92186f7c145. Evidence: commit 939742a and apps/api/src/mongo-gate.test.ts. This candidate is needs-review and has no recorded applications or measured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0:55–1:35 (40 seconds)</a:t>
            </a:r>
          </a:p>
          <a:p xmlns:a="http://schemas.openxmlformats.org/drawingml/2006/main">
            <a:r>
              <a:t/>
            </a:r>
          </a:p>
          <a:p xmlns:a="http://schemas.openxmlformats.org/drawingml/2006/main">
            <a:r>
              <a:t>An agent records a finding. It can propose a candidate for evaluation, or explicitly share a lesson through Pi. Published lessons become part of a versioned set of instructions that another session can retrieve through Pi or MCP. People see the same records in the Catalog, Canvas and Timeline. We verified the handoff between two real Pi processes, and separately confirmed a model could identify its injected memory. Those checks show that the context reaches the agent.</a:t>
            </a:r>
          </a:p>
          <a:p xmlns:a="http://schemas.openxmlformats.org/drawingml/2006/main">
            <a:r>
              <a:t/>
            </a:r>
          </a:p>
          <a:p xmlns:a="http://schemas.openxmlformats.org/drawingml/2006/main">
            <a:r>
              <a:t>Delivery cue: Give “two real Pi processes” a beat. The transfer check used synthetic content; the separate model check verified injected context.</a:t>
            </a:r>
          </a:p>
          <a:p xmlns:a="http://schemas.openxmlformats.org/drawingml/2006/main">
            <a:r>
              <a:t/>
            </a:r>
          </a:p>
          <a:p xmlns:a="http://schemas.openxmlformats.org/drawingml/2006/main">
            <a:r>
              <a:t>Sources and factual context:</a:t>
            </a:r>
          </a:p>
          <a:p xmlns:a="http://schemas.openxmlformats.org/drawingml/2006/main">
            <a:r>
              <a:t>Current README.md; docs/demo.md; packages/pi-extension/src/index.ts; apps/api/src/repository.ts. Public Timeline screenshot captured 26 September 2026: https://mongo-db-hackathon-xchange.vercel.app/?view=timeline. The fixed suite scores lesson text with no model calls. Pi share_ lesson uses immediate publication. Hosted harness was v0 in the recorded shipping report. Do not imply the visible candidates have passed the gate. Two-process transfer and separate Pi/Sonnet memory identification: docs/local-verification-2026-09-26.md. Transport used a synthetic lesson without a model; the separate model response correctly identified injected memory. Neither establishes improved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1:35–2:05 (30 seconds)</a:t>
            </a:r>
          </a:p>
          <a:p xmlns:a="http://schemas.openxmlformats.org/drawingml/2006/main">
            <a:r>
              <a:t/>
            </a:r>
          </a:p>
          <a:p xmlns:a="http://schemas.openxmlformats.org/drawingml/2006/main">
            <a:r>
              <a:t>MongoDB makes that shared state reliable. For evaluated publication, the lesson, evaluation, harness version and audit event commit in one transaction. Version checks protect against competing updates. Rollback removes a lesson from active memory. We also implemented Atlas Vector Search for ticket relevance, with a recency fallback. Each agent keeps its own conversation.</a:t>
            </a:r>
          </a:p>
          <a:p xmlns:a="http://schemas.openxmlformats.org/drawingml/2006/main">
            <a:r>
              <a:t/>
            </a:r>
          </a:p>
          <a:p xmlns:a="http://schemas.openxmlformats.org/drawingml/2006/main">
            <a:r>
              <a:t>Delivery cue: Emphasize “one transaction.” Keep the architecture explanation to these four records.</a:t>
            </a:r>
          </a:p>
          <a:p xmlns:a="http://schemas.openxmlformats.org/drawingml/2006/main">
            <a:r>
              <a:t/>
            </a:r>
          </a:p>
          <a:p xmlns:a="http://schemas.openxmlformats.org/drawingml/2006/main">
            <a:r>
              <a:t>Sources and factual context:</a:t>
            </a:r>
          </a:p>
          <a:p xmlns:a="http://schemas.openxmlformats.org/drawingml/2006/main">
            <a:r>
              <a:t>apps/api/src/repository.ts: MongoLessonRepository, session.withTransaction, expectedVersion handling, rollbackLesson and $vectorSearch. infra/mongodb/README.md. Stress evidence: https://mongo-db-hackathon-xchange.vercel.app/?item=observation%3A72d75e8b-ff2e-4a0d-a55c-18fc115e7d52. Vector retrieval is implemented, but the local verification used fallback and does not establish Atlas retrieval quality.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2:05–2:40 (35 seconds)</a:t>
            </a:r>
          </a:p>
          <a:p xmlns:a="http://schemas.openxmlformats.org/drawingml/2006/main">
            <a:r>
              <a:t/>
            </a:r>
          </a:p>
          <a:p xmlns:a="http://schemas.openxmlformats.org/drawingml/2006/main">
            <a:r>
              <a:t>Then we put the system under contention. Forty simultaneous shares produced forty consecutive versions, with no lessons lost. Thirty competing evaluations produced one winner and twenty-nine conflicts. Fifty identical retries created one record. These are recorded tests against a local MongoDB replica set. We also have a working hosted workspace, where you can inspect the lessons and the evidence.</a:t>
            </a:r>
          </a:p>
          <a:p xmlns:a="http://schemas.openxmlformats.org/drawingml/2006/main">
            <a:r>
              <a:t/>
            </a:r>
          </a:p>
          <a:p xmlns:a="http://schemas.openxmlformats.org/drawingml/2006/main">
            <a:r>
              <a:t>Delivery cue: Pause briefly after each result. These are recorded local tests, not production scale claims.</a:t>
            </a:r>
          </a:p>
          <a:p xmlns:a="http://schemas.openxmlformats.org/drawingml/2006/main">
            <a:r>
              <a:t/>
            </a:r>
          </a:p>
          <a:p xmlns:a="http://schemas.openxmlformats.org/drawingml/2006/main">
            <a:r>
              <a:t>Sources and factual context:</a:t>
            </a:r>
          </a:p>
          <a:p xmlns:a="http://schemas.openxmlformats.org/drawingml/2006/main">
            <a:r>
              <a:t>Shipping recap: https://mongo-db-hackathon-xchange.vercel.app/?item=observation%3A7c1e9a52-3b4d-4f6e-8a1b-2c3d4e5f6c01. Local concurrency report: https://mongo-db-hackathon-xchange.vercel.app/?item=observation%3A72d75e8b-ff2e-4a0d-a55c-18fc115e7d52, recorded at revisions 901c59e and 2210e16. Local MongoDB 7 replica set through api/index.ts: 40 concurrent shares, 30 evaluations (1 success, 29 HTTP 409), and 50 identical retries per record type yielding one record each. Pi transport: docs/local-verification-2026-09-26.md, two real Pi RPC processes, synthetic lesson, no model. These tests were recorded earlier; this presentation task did not rerun them. Public stress-report details were read again in the hosted UI during this presentation revision, 26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2:40–3:00 (20 seconds)</a:t>
            </a:r>
          </a:p>
          <a:p xmlns:a="http://schemas.openxmlformats.org/drawingml/2006/main">
            <a:r>
              <a:t/>
            </a:r>
          </a:p>
          <a:p xmlns:a="http://schemas.openxmlformats.org/drawingml/2006/main">
            <a:r>
              <a:t>Next, we’ll measure whether shared lessons reduce mistakes on unseen tickets. Today, we have working agent integrations and shared memory that we can inspect, version and roll back. Xchange: what one agent learns, the team can reuse.</a:t>
            </a:r>
          </a:p>
          <a:p xmlns:a="http://schemas.openxmlformats.org/drawingml/2006/main">
            <a:r>
              <a:t/>
            </a:r>
          </a:p>
          <a:p xmlns:a="http://schemas.openxmlformats.org/drawingml/2006/main">
            <a:r>
              <a:t>Delivery cue: Slow down for the last sentence. Leave the final slide up.</a:t>
            </a:r>
          </a:p>
          <a:p xmlns:a="http://schemas.openxmlformats.org/drawingml/2006/main">
            <a:r>
              <a:t/>
            </a:r>
          </a:p>
          <a:p xmlns:a="http://schemas.openxmlformats.org/drawingml/2006/main">
            <a:r>
              <a:t>Sources and factual context:</a:t>
            </a:r>
          </a:p>
          <a:p xmlns:a="http://schemas.openxmlformats.org/drawingml/2006/main">
            <a:r>
              <a:t>Delivered scope and remaining model trials: https://mongo-db-hackathon-xchange.vercel.app/?item=observation%3A7c1e9a52-3b4d-4f6e-8a1b-2c3d4e5f6c01; docs/local-verification-2026-09-26.md; README.md. No claim of improved model behavior or reduced error rates. Live public workspace verified visually on 26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5496dc5b92452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a20fb8d2af45bc" /><Relationship Type="http://schemas.openxmlformats.org/officeDocument/2006/relationships/slideLayout" Target="/ppt/slideLayouts/slideLayout1.xml" Id="R0188578884ee4f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88578884ee4f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0ef51080af84246" /><Relationship Type="http://schemas.openxmlformats.org/officeDocument/2006/relationships/notesSlide" Target="/ppt/notesSlides/notesSlide1.xml" Id="R769a9ee2e74a469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a204bdc80a64d35" /><Relationship Type="http://schemas.openxmlformats.org/officeDocument/2006/relationships/image" Target="/ppt/media/image.jpeg" Id="R275b4cc0acb5468a" /><Relationship Type="http://schemas.openxmlformats.org/officeDocument/2006/relationships/notesSlide" Target="/ppt/notesSlides/notesSlide2.xml" Id="R6f54682ddc1e42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596cc4a9df845a9" /><Relationship Type="http://schemas.openxmlformats.org/officeDocument/2006/relationships/image" Target="/ppt/media/image.png" Id="R8378a318cc644dff" /><Relationship Type="http://schemas.openxmlformats.org/officeDocument/2006/relationships/notesSlide" Target="/ppt/notesSlides/notesSlide3.xml" Id="R897f750dc5bc41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2536dbbef8b423b" /><Relationship Type="http://schemas.openxmlformats.org/officeDocument/2006/relationships/notesSlide" Target="/ppt/notesSlides/notesSlide4.xml" Id="R9aa56a3ff2e442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5e1cf54749f4b9e" /><Relationship Type="http://schemas.openxmlformats.org/officeDocument/2006/relationships/notesSlide" Target="/ppt/notesSlides/notesSlide5.xml" Id="R57b3768e88d14b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e1a838b1a1c4ada" /><Relationship Type="http://schemas.openxmlformats.org/officeDocument/2006/relationships/hyperlink" Target="https://mongo-db-hackathon-xchange.vercel.app" TargetMode="External" Id="R5f3a67c6620f4129" /><Relationship Type="http://schemas.openxmlformats.org/officeDocument/2006/relationships/notesSlide" Target="/ppt/notesSlides/notesSlide6.xml" Id="R8851f856a9d04cd2" /></Relationships>
</file>

<file path=ppt/slides/slide1.xml><?xml version="1.0" encoding="utf-8"?>
<p:sld xmlns:p="http://schemas.openxmlformats.org/presentationml/2006/main">
  <p:cSld>
    <p:bg>
      <p:bgPr>
        <a:solidFill xmlns:a="http://schemas.openxmlformats.org/drawingml/2006/main">
          <a:srgbClr val="14362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1AA2A59-9ACB-4F35-B511-589F2A63F1A8}"/>
              </a:ext>
            </a:extLst>
          </p:cNvPr>
          <p:cNvSpPr>
            <a:spLocks xmlns:a="http://schemas.openxmlformats.org/drawingml/2006/main" noGrp="1"/>
          </p:cNvSpPr>
          <p:nvPr/>
        </p:nvSpPr>
        <p:spPr>
          <a:xfrm xmlns:a="http://schemas.openxmlformats.org/drawingml/2006/main">
            <a:off x="685800" y="552450"/>
            <a:ext cx="9525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8400" b="1">
                <a:solidFill>
                  <a:srgbClr val="BDE5C5"/>
                </a:solidFill>
                <a:latin typeface="Helvetica Neue"/>
                <a:ea typeface="Helvetica Neue"/>
                <a:cs typeface="Helvetica Neue"/>
              </a:defRPr>
            </a:pPr>
            <a:r>
              <a:rPr sz="8400" b="1">
                <a:solidFill>
                  <a:srgbClr val="BDE5C5"/>
                </a:solidFill>
                <a:latin typeface="Helvetica Neue"/>
                <a:ea typeface="Helvetica Neue"/>
                <a:cs typeface="Helvetica Neue"/>
              </a:rPr>
              <a:t>Xchange</a:t>
            </a:r>
          </a:p>
        </p:txBody>
      </p:sp>
      <p:sp>
        <p:nvSpPr>
          <p:cNvPr id="2" name="">
            <a:extLst xmlns:a="http://schemas.openxmlformats.org/drawingml/2006/main">
              <a:ext uri="{FF2B5EF4-FFF2-40B4-BE49-F238E27FC236}">
                <a16:creationId xmlns:a16="http://schemas.microsoft.com/office/drawing/2014/main" id="{3A4FD28D-A645-411C-BCA5-3A49543F41E9}"/>
              </a:ext>
            </a:extLst>
          </p:cNvPr>
          <p:cNvSpPr>
            <a:spLocks xmlns:a="http://schemas.openxmlformats.org/drawingml/2006/main" noGrp="1"/>
          </p:cNvSpPr>
          <p:nvPr/>
        </p:nvSpPr>
        <p:spPr>
          <a:xfrm xmlns:a="http://schemas.openxmlformats.org/drawingml/2006/main">
            <a:off x="685800" y="2305050"/>
            <a:ext cx="1076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1">
                <a:solidFill>
                  <a:srgbClr val="FFFFFF"/>
                </a:solidFill>
                <a:latin typeface="Helvetica Neue"/>
                <a:ea typeface="Helvetica Neue"/>
                <a:cs typeface="Helvetica Neue"/>
              </a:defRPr>
            </a:pPr>
            <a:r>
              <a:rPr sz="5700" b="1">
                <a:solidFill>
                  <a:srgbClr val="FFFFFF"/>
                </a:solidFill>
                <a:latin typeface="Helvetica Neue"/>
                <a:ea typeface="Helvetica Neue"/>
                <a:cs typeface="Helvetica Neue"/>
              </a:rPr>
              <a:t>Shared memory</a:t>
            </a:r>
          </a:p>
          <a:p xmlns:a="http://schemas.openxmlformats.org/drawingml/2006/main">
            <a:pPr>
              <a:defRPr sz="5700" b="1">
                <a:solidFill>
                  <a:srgbClr val="FFFFFF"/>
                </a:solidFill>
                <a:latin typeface="Helvetica Neue"/>
                <a:ea typeface="Helvetica Neue"/>
                <a:cs typeface="Helvetica Neue"/>
              </a:defRPr>
            </a:pPr>
            <a:r>
              <a:rPr sz="5700" b="1">
                <a:solidFill>
                  <a:srgbClr val="FFFFFF"/>
                </a:solidFill>
                <a:latin typeface="Helvetica Neue"/>
                <a:ea typeface="Helvetica Neue"/>
                <a:cs typeface="Helvetica Neue"/>
              </a:rPr>
              <a:t>for coding agents</a:t>
            </a:r>
          </a:p>
        </p:txBody>
      </p:sp>
      <p:sp>
        <p:nvSpPr>
          <p:cNvPr id="3" name="">
            <a:extLst xmlns:a="http://schemas.openxmlformats.org/drawingml/2006/main">
              <a:ext uri="{FF2B5EF4-FFF2-40B4-BE49-F238E27FC236}">
                <a16:creationId xmlns:a16="http://schemas.microsoft.com/office/drawing/2014/main" id="{9C4796F7-4D12-4417-8A94-31CC9B6EE7CD}"/>
              </a:ext>
            </a:extLst>
          </p:cNvPr>
          <p:cNvSpPr>
            <a:spLocks xmlns:a="http://schemas.openxmlformats.org/drawingml/2006/main" noGrp="1"/>
          </p:cNvSpPr>
          <p:nvPr/>
        </p:nvSpPr>
        <p:spPr>
          <a:xfrm xmlns:a="http://schemas.openxmlformats.org/drawingml/2006/main">
            <a:off x="723900" y="5410200"/>
            <a:ext cx="857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BDE5C5"/>
                </a:solidFill>
                <a:latin typeface="Helvetica Neue"/>
                <a:ea typeface="Helvetica Neue"/>
                <a:cs typeface="Helvetica Neue"/>
              </a:defRPr>
            </a:pPr>
            <a:r>
              <a:rPr sz="1875" b="0">
                <a:solidFill>
                  <a:srgbClr val="BDE5C5"/>
                </a:solidFill>
                <a:latin typeface="Helvetica Neue"/>
                <a:ea typeface="Helvetica Neue"/>
                <a:cs typeface="Helvetica Neue"/>
              </a:rPr>
              <a:t>MongoDB NYC Hackathon</a:t>
            </a:r>
          </a:p>
          <a:p xmlns:a="http://schemas.openxmlformats.org/drawingml/2006/main">
            <a:pPr>
              <a:defRPr sz="1875" b="0">
                <a:solidFill>
                  <a:srgbClr val="BDE5C5"/>
                </a:solidFill>
                <a:latin typeface="Helvetica Neue"/>
                <a:ea typeface="Helvetica Neue"/>
                <a:cs typeface="Helvetica Neue"/>
              </a:defRPr>
            </a:pPr>
            <a:r>
              <a:rPr sz="1875" b="0">
                <a:solidFill>
                  <a:srgbClr val="BDE5C5"/>
                </a:solidFill>
                <a:latin typeface="Helvetica Neue"/>
                <a:ea typeface="Helvetica Neue"/>
                <a:cs typeface="Helvetica Neue"/>
              </a:rPr>
              <a:t>Recursive Harnessing</a:t>
            </a:r>
          </a:p>
        </p:txBody>
      </p:sp>
    </p:spTree>
    <p:extLst>
      <p:ext uri="{BB962C8B-B14F-4D97-AF65-F5344CB8AC3E}">
        <p14:creationId xmlns:p14="http://schemas.microsoft.com/office/powerpoint/2010/main" val="625764423"/>
      </p:ext>
    </p:extLst>
  </p:cSld>
</p:sld>
</file>

<file path=ppt/slides/slide2.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71DC72-D5D5-40B1-81B5-8F82FA20486D}"/>
              </a:ext>
            </a:extLst>
          </p:cNvPr>
          <p:cNvSpPr>
            <a:spLocks xmlns:a="http://schemas.openxmlformats.org/drawingml/2006/main" noGrp="1"/>
          </p:cNvSpPr>
          <p:nvPr/>
        </p:nvSpPr>
        <p:spPr>
          <a:xfrm xmlns:a="http://schemas.openxmlformats.org/drawingml/2006/main">
            <a:off x="609600" y="4667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525" b="1">
                <a:solidFill>
                  <a:srgbClr val="18372E"/>
                </a:solidFill>
                <a:latin typeface="Helvetica Neue"/>
                <a:ea typeface="Helvetica Neue"/>
                <a:cs typeface="Helvetica Neue"/>
              </a:defRPr>
            </a:pPr>
            <a:r>
              <a:rPr sz="3525" b="1">
                <a:solidFill>
                  <a:srgbClr val="18372E"/>
                </a:solidFill>
                <a:latin typeface="Helvetica Neue"/>
                <a:ea typeface="Helvetica Neue"/>
                <a:cs typeface="Helvetica Neue"/>
              </a:rPr>
              <a:t>We used Xchange to document Xchange</a:t>
            </a:r>
          </a:p>
        </p:txBody>
      </p:sp>
      <p:sp>
        <p:nvSpPr>
          <p:cNvPr id="2" name="">
            <a:extLst xmlns:a="http://schemas.openxmlformats.org/drawingml/2006/main">
              <a:ext uri="{FF2B5EF4-FFF2-40B4-BE49-F238E27FC236}">
                <a16:creationId xmlns:a16="http://schemas.microsoft.com/office/drawing/2014/main" id="{26962AD4-8FFE-450B-86AD-CD6FA73136BC}"/>
              </a:ext>
            </a:extLst>
          </p:cNvPr>
          <p:cNvSpPr>
            <a:spLocks xmlns:a="http://schemas.openxmlformats.org/drawingml/2006/main" noGrp="1"/>
          </p:cNvSpPr>
          <p:nvPr/>
        </p:nvSpPr>
        <p:spPr>
          <a:xfrm xmlns:a="http://schemas.openxmlformats.org/drawingml/2006/main">
            <a:off x="609600" y="1733550"/>
            <a:ext cx="61341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275" b="1">
                <a:solidFill>
                  <a:srgbClr val="315E4D"/>
                </a:solidFill>
                <a:latin typeface="Helvetica Neue"/>
                <a:ea typeface="Helvetica Neue"/>
                <a:cs typeface="Helvetica Neue"/>
              </a:defRPr>
            </a:pPr>
            <a:r>
              <a:rPr sz="4275" b="1">
                <a:solidFill>
                  <a:srgbClr val="315E4D"/>
                </a:solidFill>
                <a:latin typeface="Helvetica Neue"/>
                <a:ea typeface="Helvetica Neue"/>
                <a:cs typeface="Helvetica Neue"/>
              </a:rPr>
              <a:t>Publishing needs</a:t>
            </a:r>
          </a:p>
          <a:p xmlns:a="http://schemas.openxmlformats.org/drawingml/2006/main">
            <a:pPr>
              <a:defRPr sz="4275" b="1">
                <a:solidFill>
                  <a:srgbClr val="315E4D"/>
                </a:solidFill>
                <a:latin typeface="Helvetica Neue"/>
                <a:ea typeface="Helvetica Neue"/>
                <a:cs typeface="Helvetica Neue"/>
              </a:defRPr>
            </a:pPr>
            <a:r>
              <a:rPr sz="4275" b="1">
                <a:solidFill>
                  <a:srgbClr val="315E4D"/>
                </a:solidFill>
                <a:latin typeface="Helvetica Neue"/>
                <a:ea typeface="Helvetica Neue"/>
                <a:cs typeface="Helvetica Neue"/>
              </a:rPr>
              <a:t>a MongoDB</a:t>
            </a:r>
          </a:p>
          <a:p xmlns:a="http://schemas.openxmlformats.org/drawingml/2006/main">
            <a:pPr>
              <a:defRPr sz="4275" b="1">
                <a:solidFill>
                  <a:srgbClr val="315E4D"/>
                </a:solidFill>
                <a:latin typeface="Helvetica Neue"/>
                <a:ea typeface="Helvetica Neue"/>
                <a:cs typeface="Helvetica Neue"/>
              </a:defRPr>
            </a:pPr>
            <a:r>
              <a:rPr sz="4275" b="1">
                <a:solidFill>
                  <a:srgbClr val="315E4D"/>
                </a:solidFill>
                <a:latin typeface="Helvetica Neue"/>
                <a:ea typeface="Helvetica Neue"/>
                <a:cs typeface="Helvetica Neue"/>
              </a:rPr>
              <a:t>replica set</a:t>
            </a:r>
          </a:p>
        </p:txBody>
      </p:sp>
      <p:sp>
        <p:nvSpPr>
          <p:cNvPr id="3" name="">
            <a:extLst xmlns:a="http://schemas.openxmlformats.org/drawingml/2006/main">
              <a:ext uri="{FF2B5EF4-FFF2-40B4-BE49-F238E27FC236}">
                <a16:creationId xmlns:a16="http://schemas.microsoft.com/office/drawing/2014/main" id="{D48A5544-3EE9-4B8B-B43A-523DBAF38DAD}"/>
              </a:ext>
            </a:extLst>
          </p:cNvPr>
          <p:cNvSpPr>
            <a:spLocks xmlns:a="http://schemas.openxmlformats.org/drawingml/2006/main" noGrp="1"/>
          </p:cNvSpPr>
          <p:nvPr/>
        </p:nvSpPr>
        <p:spPr>
          <a:xfrm xmlns:a="http://schemas.openxmlformats.org/drawingml/2006/main">
            <a:off x="647700" y="4238625"/>
            <a:ext cx="563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8372E"/>
                </a:solidFill>
                <a:latin typeface="Helvetica Neue"/>
                <a:ea typeface="Helvetica Neue"/>
                <a:cs typeface="Helvetica Neue"/>
              </a:defRPr>
            </a:pPr>
            <a:r>
              <a:rPr sz="2250" b="0">
                <a:solidFill>
                  <a:srgbClr val="18372E"/>
                </a:solidFill>
                <a:latin typeface="Helvetica Neue"/>
                <a:ea typeface="Helvetica Neue"/>
                <a:cs typeface="Helvetica Neue"/>
              </a:rPr>
              <a:t>We captured the discovery</a:t>
            </a:r>
          </a:p>
          <a:p xmlns:a="http://schemas.openxmlformats.org/drawingml/2006/main">
            <a:pPr>
              <a:defRPr sz="2250" b="0">
                <a:solidFill>
                  <a:srgbClr val="18372E"/>
                </a:solidFill>
                <a:latin typeface="Helvetica Neue"/>
                <a:ea typeface="Helvetica Neue"/>
                <a:cs typeface="Helvetica Neue"/>
              </a:defRPr>
            </a:pPr>
            <a:r>
              <a:rPr sz="2250" b="0">
                <a:solidFill>
                  <a:srgbClr val="18372E"/>
                </a:solidFill>
                <a:latin typeface="Helvetica Neue"/>
                <a:ea typeface="Helvetica Neue"/>
                <a:cs typeface="Helvetica Neue"/>
              </a:rPr>
              <a:t>with a commit and a test.</a:t>
            </a:r>
          </a:p>
        </p:txBody>
      </p:sp>
      <p:sp>
        <p:nvSpPr>
          <p:cNvPr id="4" name="">
            <a:extLst xmlns:a="http://schemas.openxmlformats.org/drawingml/2006/main">
              <a:ext uri="{FF2B5EF4-FFF2-40B4-BE49-F238E27FC236}">
                <a16:creationId xmlns:a16="http://schemas.microsoft.com/office/drawing/2014/main" id="{877E77CD-37A0-40DA-9F3A-125B88EF21D3}"/>
              </a:ext>
            </a:extLst>
          </p:cNvPr>
          <p:cNvSpPr>
            <a:spLocks xmlns:a="http://schemas.openxmlformats.org/drawingml/2006/main" noGrp="1"/>
          </p:cNvSpPr>
          <p:nvPr/>
        </p:nvSpPr>
        <p:spPr>
          <a:xfrm xmlns:a="http://schemas.openxmlformats.org/drawingml/2006/main">
            <a:off x="647700" y="5629275"/>
            <a:ext cx="590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E7268"/>
                </a:solidFill>
                <a:latin typeface="Helvetica Neue"/>
                <a:ea typeface="Helvetica Neue"/>
                <a:cs typeface="Helvetica Neue"/>
              </a:defRPr>
            </a:pPr>
            <a:r>
              <a:rPr sz="1875" b="0">
                <a:solidFill>
                  <a:srgbClr val="5E7268"/>
                </a:solidFill>
                <a:latin typeface="Helvetica Neue"/>
                <a:ea typeface="Helvetica Neue"/>
                <a:cs typeface="Helvetica Neue"/>
              </a:rPr>
              <a:t>Current status: candidate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75b4cc0acb5468a"/>
          <a:srcRect xmlns:a="http://schemas.openxmlformats.org/drawingml/2006/main" l="67600" t="21800" r="1800" b="20400"/>
          <a:stretch xmlns:a="http://schemas.openxmlformats.org/drawingml/2006/main"/>
        </p:blipFill>
        <p:spPr>
          <a:xfrm xmlns:a="http://schemas.openxmlformats.org/drawingml/2006/main">
            <a:off x="7058025" y="1476375"/>
            <a:ext cx="4543425" cy="44291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5153733-1D55-4BB0-8342-3D3DD2DB18AE}"/>
              </a:ext>
            </a:extLst>
          </p:cNvPr>
          <p:cNvSpPr>
            <a:spLocks xmlns:a="http://schemas.openxmlformats.org/drawingml/2006/main" noGrp="1"/>
          </p:cNvSpPr>
          <p:nvPr/>
        </p:nvSpPr>
        <p:spPr>
          <a:xfrm xmlns:a="http://schemas.openxmlformats.org/drawingml/2006/main">
            <a:off x="11049000" y="627697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E7268"/>
                </a:solidFill>
                <a:latin typeface="Helvetica Neue"/>
                <a:ea typeface="Helvetica Neue"/>
                <a:cs typeface="Helvetica Neue"/>
              </a:defRPr>
            </a:pPr>
            <a:r>
              <a:rPr sz="1425" b="0">
                <a:solidFill>
                  <a:srgbClr val="5E7268"/>
                </a:solidFill>
                <a:latin typeface="Helvetica Neue"/>
                <a:ea typeface="Helvetica Neue"/>
                <a:cs typeface="Helvetica Neue"/>
              </a:rPr>
              <a:t>2 / 6</a:t>
            </a:r>
          </a:p>
        </p:txBody>
      </p:sp>
    </p:spTree>
    <p:extLst>
      <p:ext uri="{BB962C8B-B14F-4D97-AF65-F5344CB8AC3E}">
        <p14:creationId xmlns:p14="http://schemas.microsoft.com/office/powerpoint/2010/main" val="850597832"/>
      </p:ext>
    </p:extLst>
  </p:cSld>
</p:sld>
</file>

<file path=ppt/slides/slide3.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E5E1FB-2FED-42D0-AB25-A280EF9EEB46}"/>
              </a:ext>
            </a:extLst>
          </p:cNvPr>
          <p:cNvSpPr>
            <a:spLocks xmlns:a="http://schemas.openxmlformats.org/drawingml/2006/main" noGrp="1"/>
          </p:cNvSpPr>
          <p:nvPr/>
        </p:nvSpPr>
        <p:spPr>
          <a:xfrm xmlns:a="http://schemas.openxmlformats.org/drawingml/2006/main">
            <a:off x="609600" y="42862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18372E"/>
                </a:solidFill>
                <a:latin typeface="Helvetica Neue"/>
                <a:ea typeface="Helvetica Neue"/>
                <a:cs typeface="Helvetica Neue"/>
              </a:defRPr>
            </a:pPr>
            <a:r>
              <a:rPr sz="3600" b="1">
                <a:solidFill>
                  <a:srgbClr val="18372E"/>
                </a:solidFill>
                <a:latin typeface="Helvetica Neue"/>
                <a:ea typeface="Helvetica Neue"/>
                <a:cs typeface="Helvetica Neue"/>
              </a:rPr>
              <a:t>Lessons reach the next agent</a:t>
            </a:r>
          </a:p>
        </p:txBody>
      </p:sp>
      <p:sp>
        <p:nvSpPr>
          <p:cNvPr id="2" name="">
            <a:extLst xmlns:a="http://schemas.openxmlformats.org/drawingml/2006/main">
              <a:ext uri="{FF2B5EF4-FFF2-40B4-BE49-F238E27FC236}">
                <a16:creationId xmlns:a16="http://schemas.microsoft.com/office/drawing/2014/main" id="{26056559-4F7A-4F0A-A95E-F899B047EB6B}"/>
              </a:ext>
            </a:extLst>
          </p:cNvPr>
          <p:cNvSpPr>
            <a:spLocks xmlns:a="http://schemas.openxmlformats.org/drawingml/2006/main" noGrp="1"/>
          </p:cNvSpPr>
          <p:nvPr/>
        </p:nvSpPr>
        <p:spPr>
          <a:xfrm xmlns:a="http://schemas.openxmlformats.org/drawingml/2006/main">
            <a:off x="619125" y="11811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E7268"/>
                </a:solidFill>
                <a:latin typeface="Helvetica Neue"/>
                <a:ea typeface="Helvetica Neue"/>
                <a:cs typeface="Helvetica Neue"/>
              </a:defRPr>
            </a:pPr>
            <a:r>
              <a:rPr sz="1875" b="0">
                <a:solidFill>
                  <a:srgbClr val="5E7268"/>
                </a:solidFill>
                <a:latin typeface="Helvetica Neue"/>
                <a:ea typeface="Helvetica Neue"/>
                <a:cs typeface="Helvetica Neue"/>
              </a:rPr>
              <a:t>Pi and MCP connect independent sessions to the same active memory.</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378a318cc644dff"/>
          <a:stretch xmlns:a="http://schemas.openxmlformats.org/drawingml/2006/main"/>
        </p:blipFill>
        <p:spPr>
          <a:xfrm xmlns:a="http://schemas.openxmlformats.org/drawingml/2006/main">
            <a:off x="609600" y="1869453"/>
            <a:ext cx="10972800" cy="364297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CBEC102-21B3-459C-AF54-BF8EDB690B17}"/>
              </a:ext>
            </a:extLst>
          </p:cNvPr>
          <p:cNvSpPr>
            <a:spLocks xmlns:a="http://schemas.openxmlformats.org/drawingml/2006/main" noGrp="1"/>
          </p:cNvSpPr>
          <p:nvPr/>
        </p:nvSpPr>
        <p:spPr>
          <a:xfrm xmlns:a="http://schemas.openxmlformats.org/drawingml/2006/main">
            <a:off x="628650" y="5857875"/>
            <a:ext cx="1038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315E4D"/>
                </a:solidFill>
                <a:latin typeface="Helvetica Neue"/>
                <a:ea typeface="Helvetica Neue"/>
                <a:cs typeface="Helvetica Neue"/>
              </a:defRPr>
            </a:pPr>
            <a:r>
              <a:rPr sz="2100" b="1">
                <a:solidFill>
                  <a:srgbClr val="315E4D"/>
                </a:solidFill>
                <a:latin typeface="Helvetica Neue"/>
                <a:ea typeface="Helvetica Neue"/>
                <a:cs typeface="Helvetica Neue"/>
              </a:rPr>
              <a:t>Verified locally: two Pi processes shared and retrieved a lesson.</a:t>
            </a:r>
          </a:p>
        </p:txBody>
      </p:sp>
      <p:sp>
        <p:nvSpPr>
          <p:cNvPr id="5" name="">
            <a:extLst xmlns:a="http://schemas.openxmlformats.org/drawingml/2006/main">
              <a:ext uri="{FF2B5EF4-FFF2-40B4-BE49-F238E27FC236}">
                <a16:creationId xmlns:a16="http://schemas.microsoft.com/office/drawing/2014/main" id="{1104508F-AFCE-43CA-982A-C68580A3469F}"/>
              </a:ext>
            </a:extLst>
          </p:cNvPr>
          <p:cNvSpPr>
            <a:spLocks xmlns:a="http://schemas.openxmlformats.org/drawingml/2006/main" noGrp="1"/>
          </p:cNvSpPr>
          <p:nvPr/>
        </p:nvSpPr>
        <p:spPr>
          <a:xfrm xmlns:a="http://schemas.openxmlformats.org/drawingml/2006/main">
            <a:off x="11049000" y="627697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E7268"/>
                </a:solidFill>
                <a:latin typeface="Helvetica Neue"/>
                <a:ea typeface="Helvetica Neue"/>
                <a:cs typeface="Helvetica Neue"/>
              </a:defRPr>
            </a:pPr>
            <a:r>
              <a:rPr sz="1425" b="0">
                <a:solidFill>
                  <a:srgbClr val="5E7268"/>
                </a:solidFill>
                <a:latin typeface="Helvetica Neue"/>
                <a:ea typeface="Helvetica Neue"/>
                <a:cs typeface="Helvetica Neue"/>
              </a:rPr>
              <a:t>3 / 6</a:t>
            </a:r>
          </a:p>
        </p:txBody>
      </p:sp>
    </p:spTree>
    <p:extLst>
      <p:ext uri="{BB962C8B-B14F-4D97-AF65-F5344CB8AC3E}">
        <p14:creationId xmlns:p14="http://schemas.microsoft.com/office/powerpoint/2010/main" val="1370213260"/>
      </p:ext>
    </p:extLst>
  </p:cSld>
</p:sld>
</file>

<file path=ppt/slides/slide4.xml><?xml version="1.0" encoding="utf-8"?>
<p:sld xmlns:p="http://schemas.openxmlformats.org/presentationml/2006/main">
  <p:cSld>
    <p:bg>
      <p:bgPr>
        <a:solidFill xmlns:a="http://schemas.openxmlformats.org/drawingml/2006/main">
          <a:srgbClr val="1436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8065723-23E5-4F19-8FF9-9298E51088C2}"/>
              </a:ext>
            </a:extLst>
          </p:cNvPr>
          <p:cNvSpPr>
            <a:spLocks xmlns:a="http://schemas.openxmlformats.org/drawingml/2006/main" noGrp="1"/>
          </p:cNvSpPr>
          <p:nvPr/>
        </p:nvSpPr>
        <p:spPr>
          <a:xfrm xmlns:a="http://schemas.openxmlformats.org/drawingml/2006/main">
            <a:off x="609600" y="4667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MongoDB holds the shared state</a:t>
            </a:r>
          </a:p>
        </p:txBody>
      </p:sp>
      <p:sp>
        <p:nvSpPr>
          <p:cNvPr id="2" name="">
            <a:extLst xmlns:a="http://schemas.openxmlformats.org/drawingml/2006/main">
              <a:ext uri="{FF2B5EF4-FFF2-40B4-BE49-F238E27FC236}">
                <a16:creationId xmlns:a16="http://schemas.microsoft.com/office/drawing/2014/main" id="{AC202CD1-3FA5-49CC-9748-CD1FE3F231C9}"/>
              </a:ext>
            </a:extLst>
          </p:cNvPr>
          <p:cNvSpPr>
            <a:spLocks xmlns:a="http://schemas.openxmlformats.org/drawingml/2006/main" noGrp="1"/>
          </p:cNvSpPr>
          <p:nvPr/>
        </p:nvSpPr>
        <p:spPr>
          <a:xfrm xmlns:a="http://schemas.openxmlformats.org/drawingml/2006/main">
            <a:off x="609600" y="2085975"/>
            <a:ext cx="6286500"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150" b="1">
                <a:solidFill>
                  <a:srgbClr val="BDE5C5"/>
                </a:solidFill>
                <a:latin typeface="Helvetica Neue"/>
                <a:ea typeface="Helvetica Neue"/>
                <a:cs typeface="Helvetica Neue"/>
              </a:defRPr>
            </a:pPr>
            <a:r>
              <a:rPr sz="6150" b="1">
                <a:solidFill>
                  <a:srgbClr val="BDE5C5"/>
                </a:solidFill>
                <a:latin typeface="Helvetica Neue"/>
                <a:ea typeface="Helvetica Neue"/>
                <a:cs typeface="Helvetica Neue"/>
              </a:rPr>
              <a:t>One</a:t>
            </a:r>
          </a:p>
          <a:p xmlns:a="http://schemas.openxmlformats.org/drawingml/2006/main">
            <a:pPr>
              <a:defRPr sz="6150" b="1">
                <a:solidFill>
                  <a:srgbClr val="BDE5C5"/>
                </a:solidFill>
                <a:latin typeface="Helvetica Neue"/>
                <a:ea typeface="Helvetica Neue"/>
                <a:cs typeface="Helvetica Neue"/>
              </a:defRPr>
            </a:pPr>
            <a:r>
              <a:rPr sz="6150" b="1">
                <a:solidFill>
                  <a:srgbClr val="BDE5C5"/>
                </a:solidFill>
                <a:latin typeface="Helvetica Neue"/>
                <a:ea typeface="Helvetica Neue"/>
                <a:cs typeface="Helvetica Neue"/>
              </a:rPr>
              <a:t>transaction</a:t>
            </a:r>
          </a:p>
        </p:txBody>
      </p:sp>
      <p:sp>
        <p:nvSpPr>
          <p:cNvPr id="3" name="">
            <a:extLst xmlns:a="http://schemas.openxmlformats.org/drawingml/2006/main">
              <a:ext uri="{FF2B5EF4-FFF2-40B4-BE49-F238E27FC236}">
                <a16:creationId xmlns:a16="http://schemas.microsoft.com/office/drawing/2014/main" id="{D1AE75FC-0382-4811-B096-E528B27345BA}"/>
              </a:ext>
            </a:extLst>
          </p:cNvPr>
          <p:cNvSpPr>
            <a:spLocks xmlns:a="http://schemas.openxmlformats.org/drawingml/2006/main" noGrp="1"/>
          </p:cNvSpPr>
          <p:nvPr/>
        </p:nvSpPr>
        <p:spPr>
          <a:xfrm xmlns:a="http://schemas.openxmlformats.org/drawingml/2006/main">
            <a:off x="7620000" y="2009775"/>
            <a:ext cx="3905250"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925" b="0">
                <a:solidFill>
                  <a:srgbClr val="FFFFFF"/>
                </a:solidFill>
                <a:latin typeface="Helvetica Neue"/>
                <a:ea typeface="Helvetica Neue"/>
                <a:cs typeface="Helvetica Neue"/>
              </a:defRPr>
            </a:pPr>
            <a:r>
              <a:rPr sz="2925" b="0">
                <a:solidFill>
                  <a:srgbClr val="FFFFFF"/>
                </a:solidFill>
                <a:latin typeface="Helvetica Neue"/>
                <a:ea typeface="Helvetica Neue"/>
                <a:cs typeface="Helvetica Neue"/>
              </a:rPr>
              <a:t>Lesson</a:t>
            </a:r>
          </a:p>
          <a:p xmlns:a="http://schemas.openxmlformats.org/drawingml/2006/main">
            <a:pPr>
              <a:defRPr sz="2925" b="0">
                <a:solidFill>
                  <a:srgbClr val="FFFFFF"/>
                </a:solidFill>
                <a:latin typeface="Helvetica Neue"/>
                <a:ea typeface="Helvetica Neue"/>
                <a:cs typeface="Helvetica Neue"/>
              </a:defRPr>
            </a:pPr>
            <a:r>
              <a:rPr sz="2925" b="0">
                <a:solidFill>
                  <a:srgbClr val="FFFFFF"/>
                </a:solidFill>
                <a:latin typeface="Helvetica Neue"/>
                <a:ea typeface="Helvetica Neue"/>
                <a:cs typeface="Helvetica Neue"/>
              </a:rPr>
              <a:t>Evaluation</a:t>
            </a:r>
          </a:p>
          <a:p xmlns:a="http://schemas.openxmlformats.org/drawingml/2006/main">
            <a:pPr>
              <a:defRPr sz="2925" b="0">
                <a:solidFill>
                  <a:srgbClr val="FFFFFF"/>
                </a:solidFill>
                <a:latin typeface="Helvetica Neue"/>
                <a:ea typeface="Helvetica Neue"/>
                <a:cs typeface="Helvetica Neue"/>
              </a:defRPr>
            </a:pPr>
            <a:r>
              <a:rPr sz="2925" b="0">
                <a:solidFill>
                  <a:srgbClr val="FFFFFF"/>
                </a:solidFill>
                <a:latin typeface="Helvetica Neue"/>
                <a:ea typeface="Helvetica Neue"/>
                <a:cs typeface="Helvetica Neue"/>
              </a:rPr>
              <a:t>Harness version</a:t>
            </a:r>
          </a:p>
          <a:p xmlns:a="http://schemas.openxmlformats.org/drawingml/2006/main">
            <a:pPr>
              <a:defRPr sz="2925" b="0">
                <a:solidFill>
                  <a:srgbClr val="FFFFFF"/>
                </a:solidFill>
                <a:latin typeface="Helvetica Neue"/>
                <a:ea typeface="Helvetica Neue"/>
                <a:cs typeface="Helvetica Neue"/>
              </a:defRPr>
            </a:pPr>
            <a:r>
              <a:rPr sz="2925" b="0">
                <a:solidFill>
                  <a:srgbClr val="FFFFFF"/>
                </a:solidFill>
                <a:latin typeface="Helvetica Neue"/>
                <a:ea typeface="Helvetica Neue"/>
                <a:cs typeface="Helvetica Neue"/>
              </a:rPr>
              <a:t>Audit event</a:t>
            </a:r>
          </a:p>
        </p:txBody>
      </p:sp>
      <p:sp>
        <p:nvSpPr>
          <p:cNvPr id="4" name="">
            <a:extLst xmlns:a="http://schemas.openxmlformats.org/drawingml/2006/main">
              <a:ext uri="{FF2B5EF4-FFF2-40B4-BE49-F238E27FC236}">
                <a16:creationId xmlns:a16="http://schemas.microsoft.com/office/drawing/2014/main" id="{58344CD0-BE43-4DB8-A671-0F66B82DB293}"/>
              </a:ext>
            </a:extLst>
          </p:cNvPr>
          <p:cNvSpPr>
            <a:spLocks xmlns:a="http://schemas.openxmlformats.org/drawingml/2006/main" noGrp="1"/>
          </p:cNvSpPr>
          <p:nvPr/>
        </p:nvSpPr>
        <p:spPr>
          <a:xfrm xmlns:a="http://schemas.openxmlformats.org/drawingml/2006/main">
            <a:off x="647700" y="52482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Version checks protect updates. Rollback changes active memory.</a:t>
            </a:r>
          </a:p>
        </p:txBody>
      </p:sp>
      <p:sp>
        <p:nvSpPr>
          <p:cNvPr id="5" name="">
            <a:extLst xmlns:a="http://schemas.openxmlformats.org/drawingml/2006/main">
              <a:ext uri="{FF2B5EF4-FFF2-40B4-BE49-F238E27FC236}">
                <a16:creationId xmlns:a16="http://schemas.microsoft.com/office/drawing/2014/main" id="{321400CA-934C-4A41-B3DA-A12DDD443BF6}"/>
              </a:ext>
            </a:extLst>
          </p:cNvPr>
          <p:cNvSpPr>
            <a:spLocks xmlns:a="http://schemas.openxmlformats.org/drawingml/2006/main" noGrp="1"/>
          </p:cNvSpPr>
          <p:nvPr/>
        </p:nvSpPr>
        <p:spPr>
          <a:xfrm xmlns:a="http://schemas.openxmlformats.org/drawingml/2006/main">
            <a:off x="647700" y="5810250"/>
            <a:ext cx="10382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BDE5C5"/>
                </a:solidFill>
                <a:latin typeface="Helvetica Neue"/>
                <a:ea typeface="Helvetica Neue"/>
                <a:cs typeface="Helvetica Neue"/>
              </a:defRPr>
            </a:pPr>
            <a:r>
              <a:rPr sz="1800" b="0">
                <a:solidFill>
                  <a:srgbClr val="BDE5C5"/>
                </a:solidFill>
                <a:latin typeface="Helvetica Neue"/>
                <a:ea typeface="Helvetica Neue"/>
                <a:cs typeface="Helvetica Neue"/>
              </a:rPr>
              <a:t>Atlas Vector Search support for ticket relevance</a:t>
            </a:r>
          </a:p>
        </p:txBody>
      </p:sp>
      <p:sp>
        <p:nvSpPr>
          <p:cNvPr id="6" name="">
            <a:extLst xmlns:a="http://schemas.openxmlformats.org/drawingml/2006/main">
              <a:ext uri="{FF2B5EF4-FFF2-40B4-BE49-F238E27FC236}">
                <a16:creationId xmlns:a16="http://schemas.microsoft.com/office/drawing/2014/main" id="{9EF1AD91-1E4F-44BA-BA36-3B1E17A6F3E9}"/>
              </a:ext>
            </a:extLst>
          </p:cNvPr>
          <p:cNvSpPr>
            <a:spLocks xmlns:a="http://schemas.openxmlformats.org/drawingml/2006/main" noGrp="1"/>
          </p:cNvSpPr>
          <p:nvPr/>
        </p:nvSpPr>
        <p:spPr>
          <a:xfrm xmlns:a="http://schemas.openxmlformats.org/drawingml/2006/main">
            <a:off x="11049000" y="627697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BDE5C5"/>
                </a:solidFill>
                <a:latin typeface="Helvetica Neue"/>
                <a:ea typeface="Helvetica Neue"/>
                <a:cs typeface="Helvetica Neue"/>
              </a:defRPr>
            </a:pPr>
            <a:r>
              <a:rPr sz="1425" b="0">
                <a:solidFill>
                  <a:srgbClr val="BDE5C5"/>
                </a:solidFill>
                <a:latin typeface="Helvetica Neue"/>
                <a:ea typeface="Helvetica Neue"/>
                <a:cs typeface="Helvetica Neue"/>
              </a:rPr>
              <a:t>4 / 6</a:t>
            </a:r>
          </a:p>
        </p:txBody>
      </p:sp>
    </p:spTree>
    <p:extLst>
      <p:ext uri="{BB962C8B-B14F-4D97-AF65-F5344CB8AC3E}">
        <p14:creationId xmlns:p14="http://schemas.microsoft.com/office/powerpoint/2010/main" val="1220663383"/>
      </p:ext>
    </p:extLst>
  </p:cSld>
</p:sld>
</file>

<file path=ppt/slides/slide5.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CE182F8-0435-4FCA-B39F-DCBAB4C3DCB2}"/>
              </a:ext>
            </a:extLst>
          </p:cNvPr>
          <p:cNvSpPr>
            <a:spLocks xmlns:a="http://schemas.openxmlformats.org/drawingml/2006/main" noGrp="1"/>
          </p:cNvSpPr>
          <p:nvPr/>
        </p:nvSpPr>
        <p:spPr>
          <a:xfrm xmlns:a="http://schemas.openxmlformats.org/drawingml/2006/main">
            <a:off x="609600" y="4667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8372E"/>
                </a:solidFill>
                <a:latin typeface="Helvetica Neue"/>
                <a:ea typeface="Helvetica Neue"/>
                <a:cs typeface="Helvetica Neue"/>
              </a:defRPr>
            </a:pPr>
            <a:r>
              <a:rPr sz="3450" b="1">
                <a:solidFill>
                  <a:srgbClr val="18372E"/>
                </a:solidFill>
                <a:latin typeface="Helvetica Neue"/>
                <a:ea typeface="Helvetica Neue"/>
                <a:cs typeface="Helvetica Neue"/>
              </a:rPr>
              <a:t>Shared memory survives competing writes</a:t>
            </a:r>
          </a:p>
        </p:txBody>
      </p:sp>
      <p:sp>
        <p:nvSpPr>
          <p:cNvPr id="2" name="">
            <a:extLst xmlns:a="http://schemas.openxmlformats.org/drawingml/2006/main">
              <a:ext uri="{FF2B5EF4-FFF2-40B4-BE49-F238E27FC236}">
                <a16:creationId xmlns:a16="http://schemas.microsoft.com/office/drawing/2014/main" id="{93D3A205-42C2-4C58-AC44-EB2DBCCFBA4A}"/>
              </a:ext>
            </a:extLst>
          </p:cNvPr>
          <p:cNvSpPr>
            <a:spLocks xmlns:a="http://schemas.openxmlformats.org/drawingml/2006/main" noGrp="1"/>
          </p:cNvSpPr>
          <p:nvPr/>
        </p:nvSpPr>
        <p:spPr>
          <a:xfrm xmlns:a="http://schemas.openxmlformats.org/drawingml/2006/main">
            <a:off x="666750" y="1743075"/>
            <a:ext cx="2571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7050" b="1">
                <a:solidFill>
                  <a:srgbClr val="315E4D"/>
                </a:solidFill>
                <a:latin typeface="Helvetica Neue"/>
                <a:ea typeface="Helvetica Neue"/>
                <a:cs typeface="Helvetica Neue"/>
              </a:defRPr>
            </a:pPr>
            <a:r>
              <a:rPr sz="7050" b="1">
                <a:solidFill>
                  <a:srgbClr val="315E4D"/>
                </a:solidFill>
                <a:latin typeface="Helvetica Neue"/>
                <a:ea typeface="Helvetica Neue"/>
                <a:cs typeface="Helvetica Neue"/>
              </a:rPr>
              <a:t>40</a:t>
            </a:r>
          </a:p>
        </p:txBody>
      </p:sp>
      <p:sp>
        <p:nvSpPr>
          <p:cNvPr id="3" name="">
            <a:extLst xmlns:a="http://schemas.openxmlformats.org/drawingml/2006/main">
              <a:ext uri="{FF2B5EF4-FFF2-40B4-BE49-F238E27FC236}">
                <a16:creationId xmlns:a16="http://schemas.microsoft.com/office/drawing/2014/main" id="{4DD4446E-11B1-47D0-9EB7-A0728D677ED8}"/>
              </a:ext>
            </a:extLst>
          </p:cNvPr>
          <p:cNvSpPr>
            <a:spLocks xmlns:a="http://schemas.openxmlformats.org/drawingml/2006/main" noGrp="1"/>
          </p:cNvSpPr>
          <p:nvPr/>
        </p:nvSpPr>
        <p:spPr>
          <a:xfrm xmlns:a="http://schemas.openxmlformats.org/drawingml/2006/main">
            <a:off x="3381375" y="1885950"/>
            <a:ext cx="7905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1">
                <a:solidFill>
                  <a:srgbClr val="18372E"/>
                </a:solidFill>
                <a:latin typeface="Helvetica Neue"/>
                <a:ea typeface="Helvetica Neue"/>
                <a:cs typeface="Helvetica Neue"/>
              </a:defRPr>
            </a:pPr>
            <a:r>
              <a:rPr sz="2775" b="1">
                <a:solidFill>
                  <a:srgbClr val="18372E"/>
                </a:solidFill>
                <a:latin typeface="Helvetica Neue"/>
                <a:ea typeface="Helvetica Neue"/>
                <a:cs typeface="Helvetica Neue"/>
              </a:rPr>
              <a:t>simultaneous shares</a:t>
            </a:r>
          </a:p>
        </p:txBody>
      </p:sp>
      <p:sp>
        <p:nvSpPr>
          <p:cNvPr id="4" name="">
            <a:extLst xmlns:a="http://schemas.openxmlformats.org/drawingml/2006/main">
              <a:ext uri="{FF2B5EF4-FFF2-40B4-BE49-F238E27FC236}">
                <a16:creationId xmlns:a16="http://schemas.microsoft.com/office/drawing/2014/main" id="{1BAD9CFA-92B1-4DD9-8441-BA6533A7E7B1}"/>
              </a:ext>
            </a:extLst>
          </p:cNvPr>
          <p:cNvSpPr>
            <a:spLocks xmlns:a="http://schemas.openxmlformats.org/drawingml/2006/main" noGrp="1"/>
          </p:cNvSpPr>
          <p:nvPr/>
        </p:nvSpPr>
        <p:spPr>
          <a:xfrm xmlns:a="http://schemas.openxmlformats.org/drawingml/2006/main">
            <a:off x="3390900" y="2390775"/>
            <a:ext cx="790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E7268"/>
                </a:solidFill>
                <a:latin typeface="Helvetica Neue"/>
                <a:ea typeface="Helvetica Neue"/>
                <a:cs typeface="Helvetica Neue"/>
              </a:defRPr>
            </a:pPr>
            <a:r>
              <a:rPr sz="2100" b="0">
                <a:solidFill>
                  <a:srgbClr val="5E7268"/>
                </a:solidFill>
                <a:latin typeface="Helvetica Neue"/>
                <a:ea typeface="Helvetica Neue"/>
                <a:cs typeface="Helvetica Neue"/>
              </a:rPr>
              <a:t>40 consecutive versions. No lesson lost.</a:t>
            </a:r>
          </a:p>
        </p:txBody>
      </p:sp>
      <p:sp>
        <p:nvSpPr>
          <p:cNvPr id="5" name="">
            <a:extLst xmlns:a="http://schemas.openxmlformats.org/drawingml/2006/main">
              <a:ext uri="{FF2B5EF4-FFF2-40B4-BE49-F238E27FC236}">
                <a16:creationId xmlns:a16="http://schemas.microsoft.com/office/drawing/2014/main" id="{DB2E185E-020B-47AE-8734-9369FF8EB3C4}"/>
              </a:ext>
            </a:extLst>
          </p:cNvPr>
          <p:cNvSpPr>
            <a:spLocks xmlns:a="http://schemas.openxmlformats.org/drawingml/2006/main" noGrp="1"/>
          </p:cNvSpPr>
          <p:nvPr/>
        </p:nvSpPr>
        <p:spPr>
          <a:xfrm xmlns:a="http://schemas.openxmlformats.org/drawingml/2006/main">
            <a:off x="666750" y="3124200"/>
            <a:ext cx="2571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7050" b="1">
                <a:solidFill>
                  <a:srgbClr val="315E4D"/>
                </a:solidFill>
                <a:latin typeface="Helvetica Neue"/>
                <a:ea typeface="Helvetica Neue"/>
                <a:cs typeface="Helvetica Neue"/>
              </a:defRPr>
            </a:pPr>
            <a:r>
              <a:rPr sz="7050" b="1">
                <a:solidFill>
                  <a:srgbClr val="315E4D"/>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DD837E2E-6E15-4D49-8CCF-51290F289AD1}"/>
              </a:ext>
            </a:extLst>
          </p:cNvPr>
          <p:cNvSpPr>
            <a:spLocks xmlns:a="http://schemas.openxmlformats.org/drawingml/2006/main" noGrp="1"/>
          </p:cNvSpPr>
          <p:nvPr/>
        </p:nvSpPr>
        <p:spPr>
          <a:xfrm xmlns:a="http://schemas.openxmlformats.org/drawingml/2006/main">
            <a:off x="3381375" y="3257550"/>
            <a:ext cx="7953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1">
                <a:solidFill>
                  <a:srgbClr val="18372E"/>
                </a:solidFill>
                <a:latin typeface="Helvetica Neue"/>
                <a:ea typeface="Helvetica Neue"/>
                <a:cs typeface="Helvetica Neue"/>
              </a:defRPr>
            </a:pPr>
            <a:r>
              <a:rPr sz="2700" b="1">
                <a:solidFill>
                  <a:srgbClr val="18372E"/>
                </a:solidFill>
                <a:latin typeface="Helvetica Neue"/>
                <a:ea typeface="Helvetica Neue"/>
                <a:cs typeface="Helvetica Neue"/>
              </a:rPr>
              <a:t>winner from 30 competing evaluations</a:t>
            </a:r>
          </a:p>
        </p:txBody>
      </p:sp>
      <p:sp>
        <p:nvSpPr>
          <p:cNvPr id="7" name="">
            <a:extLst xmlns:a="http://schemas.openxmlformats.org/drawingml/2006/main">
              <a:ext uri="{FF2B5EF4-FFF2-40B4-BE49-F238E27FC236}">
                <a16:creationId xmlns:a16="http://schemas.microsoft.com/office/drawing/2014/main" id="{829422A7-5DE5-4466-9A5E-174C7F37E685}"/>
              </a:ext>
            </a:extLst>
          </p:cNvPr>
          <p:cNvSpPr>
            <a:spLocks xmlns:a="http://schemas.openxmlformats.org/drawingml/2006/main" noGrp="1"/>
          </p:cNvSpPr>
          <p:nvPr/>
        </p:nvSpPr>
        <p:spPr>
          <a:xfrm xmlns:a="http://schemas.openxmlformats.org/drawingml/2006/main">
            <a:off x="3390900" y="3771900"/>
            <a:ext cx="790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E7268"/>
                </a:solidFill>
                <a:latin typeface="Helvetica Neue"/>
                <a:ea typeface="Helvetica Neue"/>
                <a:cs typeface="Helvetica Neue"/>
              </a:defRPr>
            </a:pPr>
            <a:r>
              <a:rPr sz="2100" b="0">
                <a:solidFill>
                  <a:srgbClr val="5E7268"/>
                </a:solidFill>
                <a:latin typeface="Helvetica Neue"/>
                <a:ea typeface="Helvetica Neue"/>
                <a:cs typeface="Helvetica Neue"/>
              </a:rPr>
              <a:t>29 conflicts. One evaluation record.</a:t>
            </a:r>
          </a:p>
        </p:txBody>
      </p:sp>
      <p:sp>
        <p:nvSpPr>
          <p:cNvPr id="8" name="">
            <a:extLst xmlns:a="http://schemas.openxmlformats.org/drawingml/2006/main">
              <a:ext uri="{FF2B5EF4-FFF2-40B4-BE49-F238E27FC236}">
                <a16:creationId xmlns:a16="http://schemas.microsoft.com/office/drawing/2014/main" id="{148D1F46-14E9-45F4-9739-62440DC3EBC5}"/>
              </a:ext>
            </a:extLst>
          </p:cNvPr>
          <p:cNvSpPr>
            <a:spLocks xmlns:a="http://schemas.openxmlformats.org/drawingml/2006/main" noGrp="1"/>
          </p:cNvSpPr>
          <p:nvPr/>
        </p:nvSpPr>
        <p:spPr>
          <a:xfrm xmlns:a="http://schemas.openxmlformats.org/drawingml/2006/main">
            <a:off x="666750" y="4505325"/>
            <a:ext cx="2571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7050" b="1">
                <a:solidFill>
                  <a:srgbClr val="315E4D"/>
                </a:solidFill>
                <a:latin typeface="Helvetica Neue"/>
                <a:ea typeface="Helvetica Neue"/>
                <a:cs typeface="Helvetica Neue"/>
              </a:defRPr>
            </a:pPr>
            <a:r>
              <a:rPr sz="7050" b="1">
                <a:solidFill>
                  <a:srgbClr val="315E4D"/>
                </a:solidFill>
                <a:latin typeface="Helvetica Neue"/>
                <a:ea typeface="Helvetica Neue"/>
                <a:cs typeface="Helvetica Neue"/>
              </a:rPr>
              <a:t>50</a:t>
            </a:r>
          </a:p>
        </p:txBody>
      </p:sp>
      <p:sp>
        <p:nvSpPr>
          <p:cNvPr id="9" name="">
            <a:extLst xmlns:a="http://schemas.openxmlformats.org/drawingml/2006/main">
              <a:ext uri="{FF2B5EF4-FFF2-40B4-BE49-F238E27FC236}">
                <a16:creationId xmlns:a16="http://schemas.microsoft.com/office/drawing/2014/main" id="{F0A252DA-F2AA-48F6-84A4-48EAE8F04B19}"/>
              </a:ext>
            </a:extLst>
          </p:cNvPr>
          <p:cNvSpPr>
            <a:spLocks xmlns:a="http://schemas.openxmlformats.org/drawingml/2006/main" noGrp="1"/>
          </p:cNvSpPr>
          <p:nvPr/>
        </p:nvSpPr>
        <p:spPr>
          <a:xfrm xmlns:a="http://schemas.openxmlformats.org/drawingml/2006/main">
            <a:off x="3381375" y="4638675"/>
            <a:ext cx="7905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1">
                <a:solidFill>
                  <a:srgbClr val="18372E"/>
                </a:solidFill>
                <a:latin typeface="Helvetica Neue"/>
                <a:ea typeface="Helvetica Neue"/>
                <a:cs typeface="Helvetica Neue"/>
              </a:defRPr>
            </a:pPr>
            <a:r>
              <a:rPr sz="2775" b="1">
                <a:solidFill>
                  <a:srgbClr val="18372E"/>
                </a:solidFill>
                <a:latin typeface="Helvetica Neue"/>
                <a:ea typeface="Helvetica Neue"/>
                <a:cs typeface="Helvetica Neue"/>
              </a:rPr>
              <a:t>identical retries</a:t>
            </a:r>
          </a:p>
        </p:txBody>
      </p:sp>
      <p:sp>
        <p:nvSpPr>
          <p:cNvPr id="10" name="">
            <a:extLst xmlns:a="http://schemas.openxmlformats.org/drawingml/2006/main">
              <a:ext uri="{FF2B5EF4-FFF2-40B4-BE49-F238E27FC236}">
                <a16:creationId xmlns:a16="http://schemas.microsoft.com/office/drawing/2014/main" id="{EC5A5034-7194-4819-ADB9-4EC37DB616E0}"/>
              </a:ext>
            </a:extLst>
          </p:cNvPr>
          <p:cNvSpPr>
            <a:spLocks xmlns:a="http://schemas.openxmlformats.org/drawingml/2006/main" noGrp="1"/>
          </p:cNvSpPr>
          <p:nvPr/>
        </p:nvSpPr>
        <p:spPr>
          <a:xfrm xmlns:a="http://schemas.openxmlformats.org/drawingml/2006/main">
            <a:off x="3390900" y="5153025"/>
            <a:ext cx="790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E7268"/>
                </a:solidFill>
                <a:latin typeface="Helvetica Neue"/>
                <a:ea typeface="Helvetica Neue"/>
                <a:cs typeface="Helvetica Neue"/>
              </a:defRPr>
            </a:pPr>
            <a:r>
              <a:rPr sz="2100" b="0">
                <a:solidFill>
                  <a:srgbClr val="5E7268"/>
                </a:solidFill>
                <a:latin typeface="Helvetica Neue"/>
                <a:ea typeface="Helvetica Neue"/>
                <a:cs typeface="Helvetica Neue"/>
              </a:rPr>
              <a:t>One record created.</a:t>
            </a:r>
          </a:p>
        </p:txBody>
      </p:sp>
      <p:sp>
        <p:nvSpPr>
          <p:cNvPr id="11" name="">
            <a:extLst xmlns:a="http://schemas.openxmlformats.org/drawingml/2006/main">
              <a:ext uri="{FF2B5EF4-FFF2-40B4-BE49-F238E27FC236}">
                <a16:creationId xmlns:a16="http://schemas.microsoft.com/office/drawing/2014/main" id="{8991F265-FF71-4F38-B669-EE1EB73DA1D0}"/>
              </a:ext>
            </a:extLst>
          </p:cNvPr>
          <p:cNvSpPr>
            <a:spLocks xmlns:a="http://schemas.openxmlformats.org/drawingml/2006/main" noGrp="1"/>
          </p:cNvSpPr>
          <p:nvPr/>
        </p:nvSpPr>
        <p:spPr>
          <a:xfrm xmlns:a="http://schemas.openxmlformats.org/drawingml/2006/main">
            <a:off x="647700" y="61436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E7268"/>
                </a:solidFill>
                <a:latin typeface="Helvetica Neue"/>
                <a:ea typeface="Helvetica Neue"/>
                <a:cs typeface="Helvetica Neue"/>
              </a:defRPr>
            </a:pPr>
            <a:r>
              <a:rPr sz="1650" b="0">
                <a:solidFill>
                  <a:srgbClr val="5E7268"/>
                </a:solidFill>
                <a:latin typeface="Helvetica Neue"/>
                <a:ea typeface="Helvetica Neue"/>
                <a:cs typeface="Helvetica Neue"/>
              </a:rPr>
              <a:t>Recorded tests against a local MongoDB replica set, 26 September 2026</a:t>
            </a:r>
          </a:p>
        </p:txBody>
      </p:sp>
      <p:sp>
        <p:nvSpPr>
          <p:cNvPr id="12" name="">
            <a:extLst xmlns:a="http://schemas.openxmlformats.org/drawingml/2006/main">
              <a:ext uri="{FF2B5EF4-FFF2-40B4-BE49-F238E27FC236}">
                <a16:creationId xmlns:a16="http://schemas.microsoft.com/office/drawing/2014/main" id="{0B54D8C8-FBEF-497F-8273-DBC89F3E7853}"/>
              </a:ext>
            </a:extLst>
          </p:cNvPr>
          <p:cNvSpPr>
            <a:spLocks xmlns:a="http://schemas.openxmlformats.org/drawingml/2006/main" noGrp="1"/>
          </p:cNvSpPr>
          <p:nvPr/>
        </p:nvSpPr>
        <p:spPr>
          <a:xfrm xmlns:a="http://schemas.openxmlformats.org/drawingml/2006/main">
            <a:off x="11049000" y="627697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E7268"/>
                </a:solidFill>
                <a:latin typeface="Helvetica Neue"/>
                <a:ea typeface="Helvetica Neue"/>
                <a:cs typeface="Helvetica Neue"/>
              </a:defRPr>
            </a:pPr>
            <a:r>
              <a:rPr sz="1425" b="0">
                <a:solidFill>
                  <a:srgbClr val="5E7268"/>
                </a:solidFill>
                <a:latin typeface="Helvetica Neue"/>
                <a:ea typeface="Helvetica Neue"/>
                <a:cs typeface="Helvetica Neue"/>
              </a:rPr>
              <a:t>5 / 6</a:t>
            </a:r>
          </a:p>
        </p:txBody>
      </p:sp>
    </p:spTree>
    <p:extLst>
      <p:ext uri="{BB962C8B-B14F-4D97-AF65-F5344CB8AC3E}">
        <p14:creationId xmlns:p14="http://schemas.microsoft.com/office/powerpoint/2010/main" val="483381515"/>
      </p:ext>
    </p:extLst>
  </p:cSld>
</p:sld>
</file>

<file path=ppt/slides/slide6.xml><?xml version="1.0" encoding="utf-8"?>
<p:sld xmlns:p="http://schemas.openxmlformats.org/presentationml/2006/main">
  <p:cSld>
    <p:bg>
      <p:bgPr>
        <a:solidFill xmlns:a="http://schemas.openxmlformats.org/drawingml/2006/main">
          <a:srgbClr val="14362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62BFA07-D5BE-4E36-A3B0-13E50FF99E06}"/>
              </a:ext>
            </a:extLst>
          </p:cNvPr>
          <p:cNvSpPr>
            <a:spLocks xmlns:a="http://schemas.openxmlformats.org/drawingml/2006/main" noGrp="1"/>
          </p:cNvSpPr>
          <p:nvPr/>
        </p:nvSpPr>
        <p:spPr>
          <a:xfrm xmlns:a="http://schemas.openxmlformats.org/drawingml/2006/main">
            <a:off x="647700" y="552450"/>
            <a:ext cx="933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1">
                <a:solidFill>
                  <a:srgbClr val="BDE5C5"/>
                </a:solidFill>
                <a:latin typeface="Helvetica Neue"/>
                <a:ea typeface="Helvetica Neue"/>
                <a:cs typeface="Helvetica Neue"/>
              </a:defRPr>
            </a:pPr>
            <a:r>
              <a:rPr sz="2850" b="1">
                <a:solidFill>
                  <a:srgbClr val="BDE5C5"/>
                </a:solidFill>
                <a:latin typeface="Helvetica Neue"/>
                <a:ea typeface="Helvetica Neue"/>
                <a:cs typeface="Helvetica Neue"/>
              </a:rPr>
              <a:t>Xchange</a:t>
            </a:r>
          </a:p>
        </p:txBody>
      </p:sp>
      <p:sp>
        <p:nvSpPr>
          <p:cNvPr id="2" name="">
            <a:extLst xmlns:a="http://schemas.openxmlformats.org/drawingml/2006/main">
              <a:ext uri="{FF2B5EF4-FFF2-40B4-BE49-F238E27FC236}">
                <a16:creationId xmlns:a16="http://schemas.microsoft.com/office/drawing/2014/main" id="{16F8B14A-929A-46DC-A4A9-BFF5DFBFE2C5}"/>
              </a:ext>
            </a:extLst>
          </p:cNvPr>
          <p:cNvSpPr>
            <a:spLocks xmlns:a="http://schemas.openxmlformats.org/drawingml/2006/main" noGrp="1"/>
          </p:cNvSpPr>
          <p:nvPr/>
        </p:nvSpPr>
        <p:spPr>
          <a:xfrm xmlns:a="http://schemas.openxmlformats.org/drawingml/2006/main">
            <a:off x="628650" y="1819275"/>
            <a:ext cx="10934700"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175" b="1">
                <a:solidFill>
                  <a:srgbClr val="FFFFFF"/>
                </a:solidFill>
                <a:latin typeface="Helvetica Neue"/>
                <a:ea typeface="Helvetica Neue"/>
                <a:cs typeface="Helvetica Neue"/>
              </a:defRPr>
            </a:pPr>
            <a:r>
              <a:rPr sz="5175" b="1">
                <a:solidFill>
                  <a:srgbClr val="FFFFFF"/>
                </a:solidFill>
                <a:latin typeface="Helvetica Neue"/>
                <a:ea typeface="Helvetica Neue"/>
                <a:cs typeface="Helvetica Neue"/>
              </a:rPr>
              <a:t>What one agent learns,</a:t>
            </a:r>
          </a:p>
          <a:p xmlns:a="http://schemas.openxmlformats.org/drawingml/2006/main">
            <a:pPr>
              <a:defRPr sz="5175" b="1">
                <a:solidFill>
                  <a:srgbClr val="FFFFFF"/>
                </a:solidFill>
                <a:latin typeface="Helvetica Neue"/>
                <a:ea typeface="Helvetica Neue"/>
                <a:cs typeface="Helvetica Neue"/>
              </a:defRPr>
            </a:pPr>
            <a:r>
              <a:rPr sz="5175" b="1">
                <a:solidFill>
                  <a:srgbClr val="FFFFFF"/>
                </a:solidFill>
                <a:latin typeface="Helvetica Neue"/>
                <a:ea typeface="Helvetica Neue"/>
                <a:cs typeface="Helvetica Neue"/>
              </a:rPr>
              <a:t>the team can reuse</a:t>
            </a:r>
          </a:p>
        </p:txBody>
      </p:sp>
      <p:sp>
        <p:nvSpPr>
          <p:cNvPr id="3" name="">
            <a:extLst xmlns:a="http://schemas.openxmlformats.org/drawingml/2006/main">
              <a:ext uri="{FF2B5EF4-FFF2-40B4-BE49-F238E27FC236}">
                <a16:creationId xmlns:a16="http://schemas.microsoft.com/office/drawing/2014/main" id="{E14DDA51-46EC-4E2A-B31B-83B85F2B253B}"/>
              </a:ext>
            </a:extLst>
          </p:cNvPr>
          <p:cNvSpPr>
            <a:spLocks xmlns:a="http://schemas.openxmlformats.org/drawingml/2006/main" noGrp="1"/>
          </p:cNvSpPr>
          <p:nvPr/>
        </p:nvSpPr>
        <p:spPr>
          <a:xfrm xmlns:a="http://schemas.openxmlformats.org/drawingml/2006/main">
            <a:off x="666750" y="4495800"/>
            <a:ext cx="10477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0">
                <a:solidFill>
                  <a:srgbClr val="BDE5C5"/>
                </a:solidFill>
                <a:latin typeface="Helvetica Neue"/>
                <a:ea typeface="Helvetica Neue"/>
                <a:cs typeface="Helvetica Neue"/>
              </a:defRPr>
            </a:pPr>
            <a:r>
              <a:rPr sz="2625" b="0">
                <a:solidFill>
                  <a:srgbClr val="BDE5C5"/>
                </a:solidFill>
                <a:latin typeface="Helvetica Neue"/>
                <a:ea typeface="Helvetica Neue"/>
                <a:cs typeface="Helvetica Neue"/>
              </a:rPr>
              <a:t>Next: measure the benefit</a:t>
            </a:r>
          </a:p>
          <a:p xmlns:a="http://schemas.openxmlformats.org/drawingml/2006/main">
            <a:pPr>
              <a:defRPr sz="2625" b="0">
                <a:solidFill>
                  <a:srgbClr val="BDE5C5"/>
                </a:solidFill>
                <a:latin typeface="Helvetica Neue"/>
                <a:ea typeface="Helvetica Neue"/>
                <a:cs typeface="Helvetica Neue"/>
              </a:defRPr>
            </a:pPr>
            <a:r>
              <a:rPr sz="2625" b="0">
                <a:solidFill>
                  <a:srgbClr val="BDE5C5"/>
                </a:solidFill>
                <a:latin typeface="Helvetica Neue"/>
                <a:ea typeface="Helvetica Neue"/>
                <a:cs typeface="Helvetica Neue"/>
              </a:rPr>
              <a:t>on unseen tickets</a:t>
            </a:r>
          </a:p>
        </p:txBody>
      </p:sp>
      <p:sp>
        <p:nvSpPr>
          <p:cNvPr id="4" name="">
            <a:extLst xmlns:a="http://schemas.openxmlformats.org/drawingml/2006/main">
              <a:ext uri="{FF2B5EF4-FFF2-40B4-BE49-F238E27FC236}">
                <a16:creationId xmlns:a16="http://schemas.microsoft.com/office/drawing/2014/main" id="{9D22F2B8-17EA-49B3-AE1D-20A34FC096D2}"/>
              </a:ext>
            </a:extLst>
          </p:cNvPr>
          <p:cNvSpPr>
            <a:spLocks xmlns:a="http://schemas.openxmlformats.org/drawingml/2006/main" noGrp="1"/>
          </p:cNvSpPr>
          <p:nvPr/>
        </p:nvSpPr>
        <p:spPr>
          <a:xfrm xmlns:a="http://schemas.openxmlformats.org/drawingml/2006/main">
            <a:off x="666750" y="6134100"/>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hlinkClick xmlns:r="http://schemas.openxmlformats.org/officeDocument/2006/relationships" r:id="R5f3a67c6620f4129"/>
              </a:rPr>
              <a:t>mongo-db-hackathon-xchange.vercel.app</a:t>
            </a:r>
          </a:p>
        </p:txBody>
      </p:sp>
    </p:spTree>
    <p:extLst>
      <p:ext uri="{BB962C8B-B14F-4D97-AF65-F5344CB8AC3E}">
        <p14:creationId xmlns:p14="http://schemas.microsoft.com/office/powerpoint/2010/main" val="2682607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2026-09-26T20:59:04.4510000Z</dcterms:created>
  <dcterms:modified xsi:type="dcterms:W3CDTF">2026-09-26T20:59:04.4510000Z</dcterms:modified>
</coreProperties>
</file>